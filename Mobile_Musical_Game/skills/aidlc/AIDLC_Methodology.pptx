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-1371600"/>
            <a:ext cx="8229600" cy="6400800"/>
          </a:xfrm>
          <a:prstGeom prst="rect">
            <a:avLst/>
          </a:prstGeom>
          <a:solidFill>
            <a:srgbClr val="6b21a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-457200"/>
            <a:ext cx="5486400" cy="4572000"/>
          </a:xfrm>
          <a:prstGeom prst="rect">
            <a:avLst/>
          </a:prstGeom>
          <a:solidFill>
            <a:srgbClr val="a855f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457200"/>
            <a:ext cx="3657600" cy="3200400"/>
          </a:xfrm>
          <a:prstGeom prst="rect">
            <a:avLst/>
          </a:prstGeom>
          <a:solidFill>
            <a:srgbClr val="ffe08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6400800" cy="3200400"/>
          </a:xfrm>
          <a:prstGeom prst="rect">
            <a:avLst/>
          </a:prstGeom>
          <a:solidFill>
            <a:srgbClr val="05101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DejaVu Sans"/>
              </a:rPr>
              <a:t>AI-Driven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DejaVu Sans"/>
              </a:rPr>
              <a:t>Life Cycle (AI-DLC)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  <a:latin typeface="DejaVu Sans"/>
              </a:rPr>
              <a:t>AWS Methodology for AI-Native Software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760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DejaVu Sans"/>
              </a:rPr>
              <a:t>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-914400"/>
            <a:ext cx="7315200" cy="5486400"/>
          </a:xfrm>
          <a:prstGeom prst="rect">
            <a:avLst/>
          </a:prstGeom>
          <a:solidFill>
            <a:srgbClr val="551a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45720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572000" cy="3657600"/>
          </a:xfrm>
          <a:prstGeom prst="rect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DejaVu Sans"/>
              </a:rPr>
              <a:t>01   นิยาม AI-DLC คืออะไร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DejaVu Sans"/>
              </a:rPr>
              <a:t>AI-DLC คืออะไร? (มุมมอง AWS)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645920"/>
          </a:xfrm>
          <a:prstGeom prst="rect">
            <a:avLst/>
          </a:prstGeom>
          <a:solidFill>
            <a:srgbClr val="1a10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73152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8BDF8"/>
                </a:solidFill>
                <a:latin typeface="DejaVu Sans"/>
              </a:rPr>
              <a:t>AI-Driven Development Life Cycle (AI-DLC)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DejaVu Sans"/>
              </a:rPr>
              <a:t>คือกระบวนการพัฒนาซอฟต์แวร์แบบใหม่ที่ AWS นำเสนอ โดยผสาน Generative AI เข้าสู่ทุกขั้นตอน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1D5DB"/>
                </a:solidFill>
                <a:latin typeface="DejaVu Sans"/>
              </a:rPr>
              <a:t>ตั้งแต่การกำหนดความต้องการ ออกแบบสถาปัตยกรรม เขียนโค้ด ทดสอบ ไปจนถึงการ Deploy และ Operate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749039" cy="3291840"/>
          </a:xfrm>
          <a:prstGeom prst="rect">
            <a:avLst/>
          </a:prstGeom>
          <a:solidFill>
            <a:srgbClr val="181830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55F7"/>
                </a:solidFill>
                <a:latin typeface="DejaVu Sans"/>
              </a:rPr>
              <a:t>Paradigm Leap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56615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ไม่ใช่แค่การเพิ่มเครื่องมือ AI
แต่เปลี่ยนกระบวนทัศน์
การพัฒนาซอฟต์แวร์ใหม่ทั้งหมด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39" y="2834640"/>
            <a:ext cx="3749039" cy="3291840"/>
          </a:xfrm>
          <a:prstGeom prst="rect">
            <a:avLst/>
          </a:prstGeom>
          <a:solidFill>
            <a:srgbClr val="181830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39" y="2834640"/>
            <a:ext cx="374903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399" y="2971800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3520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DejaVu Sans"/>
              </a:rPr>
              <a:t>Human +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023360"/>
            <a:ext cx="356615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นักพัฒนากำหนดทิศทาง
AI ทำตามโครงสร้าง ข้อกำหนด
ขอบเขต และทดสอบ-ส่งมอบ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8" y="2834640"/>
            <a:ext cx="3749039" cy="3291840"/>
          </a:xfrm>
          <a:prstGeom prst="rect">
            <a:avLst/>
          </a:prstGeom>
          <a:solidFill>
            <a:srgbClr val="181830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8" y="2834640"/>
            <a:ext cx="3749039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8" y="2971800"/>
            <a:ext cx="457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8" y="35204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DejaVu Sans"/>
              </a:rPr>
              <a:t>AI-Native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8" y="4023360"/>
            <a:ext cx="356615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เปลี่ยนนักพัฒนาจาก
"Code Writer" เป็น
"Outcome Director"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-914400"/>
            <a:ext cx="7315200" cy="5486400"/>
          </a:xfrm>
          <a:prstGeom prst="rect">
            <a:avLst/>
          </a:prstGeom>
          <a:solidFill>
            <a:srgbClr val="551a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45720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572000" cy="3657600"/>
          </a:xfrm>
          <a:prstGeom prst="rect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DejaVu Sans"/>
              </a:rPr>
              <a:t>02   กระบวนการ 4 ช่วงหลักของ AI-DLC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DejaVu Sans"/>
              </a:rPr>
              <a:t>กระบวนการ 4 ช่วงของ AI-DLC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  <a:latin typeface="DejaVu Sans"/>
              </a:rPr>
              <a:t>นักพัฒนากำหนดทิศทาง → GenAI ดำเนินการตามโครงสร้างและข้อกำหนด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88920" cy="4846320"/>
          </a:xfrm>
          <a:prstGeom prst="rect">
            <a:avLst/>
          </a:prstGeom>
          <a:solidFill>
            <a:srgbClr val="28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8892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  <a:latin typeface="DejaVu San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581912"/>
            <a:ext cx="1737360" cy="292608"/>
          </a:xfrm>
          <a:prstGeom prst="rect">
            <a:avLst/>
          </a:prstGeom>
          <a:solidFill>
            <a:srgbClr val="513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DejaVu Sans"/>
              </a:rPr>
              <a:t>Human-Led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DejaVu Sans"/>
              </a:rPr>
              <a:t>กำหนดเป้าหมาย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88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นักพัฒนากำหนด
วิสัยทัศน์ ความต้องการ
ขอบเขต และ
เกณฑ์ความสำเร็จ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4206240"/>
            <a:ext cx="54864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Product 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645152"/>
            <a:ext cx="54864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User Stories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5084064"/>
            <a:ext cx="54864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3834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Success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5522976"/>
            <a:ext cx="54864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47725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3824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  <a:latin typeface="DejaVu Sans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1463040"/>
            <a:ext cx="2788920" cy="4846320"/>
          </a:xfrm>
          <a:prstGeom prst="rect">
            <a:avLst/>
          </a:prstGeom>
          <a:solidFill>
            <a:srgbClr val="1A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73552" y="1463040"/>
            <a:ext cx="278892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55F7"/>
                </a:solidFill>
                <a:latin typeface="DejaVu Sans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67912" y="1581912"/>
            <a:ext cx="1737360" cy="292608"/>
          </a:xfrm>
          <a:prstGeom prst="rect">
            <a:avLst/>
          </a:prstGeom>
          <a:solidFill>
            <a:srgbClr val="38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DejaVu Sans"/>
              </a:rPr>
              <a:t>AI-Assisted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DejaVu Sans"/>
              </a:rPr>
              <a:t>ออกแบบ
สถาปัตยกรรม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788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GenAI สร้าง
โครงสร้างระบบ
ตามข้อกำหนด
ที่ได้รับมอบหมาย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206240"/>
            <a:ext cx="54864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4160520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System Design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645152"/>
            <a:ext cx="54864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45994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API Contracts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084064"/>
            <a:ext cx="54864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2152" y="503834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Data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5522976"/>
            <a:ext cx="54864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47725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Tech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855F7"/>
                </a:solidFill>
                <a:latin typeface="DejaVu Sans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1463040"/>
            <a:ext cx="2788920" cy="4846320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1463040"/>
            <a:ext cx="2788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DejaVu Sans"/>
              </a:rP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75704" y="1581912"/>
            <a:ext cx="1737360" cy="292608"/>
          </a:xfrm>
          <a:prstGeom prst="rect">
            <a:avLst/>
          </a:prstGeom>
          <a:solidFill>
            <a:srgbClr val="12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75704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DejaVu Sans"/>
              </a:rPr>
              <a:t>AI-Led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DejaVu Sans"/>
              </a:rPr>
              <a:t>สร้างและทดสอบ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2788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GenAI เขียนโค้ด
ทดสอบ และตรวจสอบ
คุณภาพตาม
มาตรฐานที่กำหนด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4206240"/>
            <a:ext cx="54864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4160520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Code Generation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4645152"/>
            <a:ext cx="54864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45994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Unit Tests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5084064"/>
            <a:ext cx="54864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9944" y="503834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Integration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5522976"/>
            <a:ext cx="54864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9944" y="547725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Code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79408" y="37033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DejaVu Sans"/>
              </a:rPr>
              <a:t>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89136" y="1463040"/>
            <a:ext cx="2788920" cy="4846320"/>
          </a:xfrm>
          <a:prstGeom prst="rect">
            <a:avLst/>
          </a:prstGeom>
          <a:solidFill>
            <a:srgbClr val="05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89136" y="1463040"/>
            <a:ext cx="2788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8864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DejaVu Sans"/>
              </a:rPr>
              <a:t>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83496" y="1581912"/>
            <a:ext cx="1737360" cy="292608"/>
          </a:xfrm>
          <a:prstGeom prst="rect">
            <a:avLst/>
          </a:prstGeom>
          <a:solidFill>
            <a:srgbClr val="02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83496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DejaVu Sans"/>
              </a:rPr>
              <a:t>AI-Operated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98864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DejaVu Sans"/>
              </a:rPr>
              <a:t>Deploy &amp;
ส่งมอบ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278892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GenAI จัดการ
การ deploy ติดตาม
ระบบ และปรับปรุง
อย่างต่อเนื่อง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98864" y="4206240"/>
            <a:ext cx="54864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17736" y="4160520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CI/CD Pipeline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98864" y="4645152"/>
            <a:ext cx="54864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17736" y="45994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Infra as Code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98864" y="5084064"/>
            <a:ext cx="54864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17736" y="5038344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Monitoring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98864" y="5522976"/>
            <a:ext cx="54864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17736" y="5477256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Auto-Scaling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-914400"/>
            <a:ext cx="7315200" cy="5486400"/>
          </a:xfrm>
          <a:prstGeom prst="rect">
            <a:avLst/>
          </a:prstGeom>
          <a:solidFill>
            <a:srgbClr val="551a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45720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572000" cy="3657600"/>
          </a:xfrm>
          <a:prstGeom prst="rect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DejaVu Sans"/>
              </a:rPr>
              <a:t>03   3 Phases ของ AI-DLC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DejaVu Sans"/>
              </a:rPr>
              <a:t>3 Phases ของกระบวนการ AI-DLC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114300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8328" y="1005840"/>
            <a:ext cx="3840480" cy="5303520"/>
          </a:xfrm>
          <a:prstGeom prst="rect">
            <a:avLst/>
          </a:prstGeom>
          <a:solidFill>
            <a:srgbClr val="1A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1005840"/>
            <a:ext cx="384048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143000"/>
            <a:ext cx="50292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DejaVu Sans"/>
              </a:rPr>
              <a:t>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  <a:latin typeface="DejaVu Sans"/>
              </a:rPr>
              <a:t>Inception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1463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ระยะเริ่มต้น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5623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ejaVu Sans"/>
              </a:rPr>
              <a:t>ช่วงที่ทีมร่วมกันค้นหาและกำหนด
ความต้องการของระบบ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587752"/>
            <a:ext cx="356616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807208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กำหนด Requirement Discovery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291840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สร้าง User Stories &amp; Epics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776472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แบ่งงานเป็น Units of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261104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5137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กำหนด Acceptance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745736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3600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วางแผน Architecture ระดับสูง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5650992"/>
            <a:ext cx="3657600" cy="530352"/>
          </a:xfrm>
          <a:prstGeom prst="rect">
            <a:avLst/>
          </a:prstGeom>
          <a:solidFill>
            <a:srgbClr val="42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5705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  <a:latin typeface="DejaVu Sans"/>
              </a:rPr>
              <a:t>📋 Product Backlog พร้อม Sprint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1005840"/>
            <a:ext cx="3840480" cy="5303520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1005840"/>
            <a:ext cx="38404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8" y="114300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11338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DejaVu Sans"/>
              </a:rPr>
              <a:t>3.2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DejaVu Sans"/>
              </a:rPr>
              <a:t>Construction 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1463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ระยะก่อสร้าง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185623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ejaVu Sans"/>
              </a:rPr>
              <a:t>GenAI ออกแบบ พัฒนา และทดสอบ
ระบบตามข้อกำหนดที่กำหนดไว้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3128" y="2587752"/>
            <a:ext cx="35661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53128" y="2807208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6974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ออกแบบ System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53128" y="3291840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18211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สร้าง API &amp; Data Models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3776472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6667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เขียนโค้ดด้วย Agentic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4261104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15137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รัน Unit &amp; Integration Tests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3128" y="4745736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63600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Code Review อัตโนมัติ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07408" y="5650992"/>
            <a:ext cx="3657600" cy="530352"/>
          </a:xfrm>
          <a:prstGeom prst="rect">
            <a:avLst/>
          </a:prstGeom>
          <a:solidFill>
            <a:srgbClr val="1C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5705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DejaVu Sans"/>
              </a:rPr>
              <a:t>⚙️ Working Software พร้อม Test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93608" y="1005840"/>
            <a:ext cx="3840480" cy="5303520"/>
          </a:xfrm>
          <a:prstGeom prst="rect">
            <a:avLst/>
          </a:prstGeom>
          <a:solidFill>
            <a:srgbClr val="05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93608" y="1005840"/>
            <a:ext cx="38404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30768" y="1143000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11338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DejaVu Sans"/>
              </a:rPr>
              <a:t>3.3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416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DejaVu Sans"/>
              </a:rPr>
              <a:t>Operations Phase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416" y="1463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ระยะปฏิบัติการ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185623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ejaVu Sans"/>
              </a:rPr>
              <a:t>AI ดูแลการ deploy บน Cloud
และติดตามระบบอย่างต่อเนื่อง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30768" y="2587752"/>
            <a:ext cx="3566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30768" y="2807208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40" y="269748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Infrastructure as Code (IaC)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30768" y="3291840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18211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CI/CD Pipeline อัตโนมัติ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30768" y="3776472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9640" y="36667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Real-time Monitoring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0768" y="4261104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9640" y="415137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Auto-scaling &amp; Optimization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0768" y="4745736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463600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Continuous Improvement Loop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85048" y="5650992"/>
            <a:ext cx="3657600" cy="530352"/>
          </a:xfrm>
          <a:prstGeom prst="rect">
            <a:avLst/>
          </a:prstGeom>
          <a:solidFill>
            <a:srgbClr val="0C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6488" y="5705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DejaVu Sans"/>
              </a:rPr>
              <a:t>🚀 Live System + Ops Dashboard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-914400"/>
            <a:ext cx="7315200" cy="5486400"/>
          </a:xfrm>
          <a:prstGeom prst="rect">
            <a:avLst/>
          </a:prstGeom>
          <a:solidFill>
            <a:srgbClr val="551a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45720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572000" cy="3657600"/>
          </a:xfrm>
          <a:prstGeom prst="rect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DejaVu Sans"/>
              </a:rPr>
              <a:t>04   เครื่องมือ IDE สำหรับ AI-DLC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DejaVu Sans"/>
              </a:rPr>
              <a:t>เครื่องมือ IDE ที่รองรับ AI-DLC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11430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8328" y="987552"/>
            <a:ext cx="3840480" cy="5303520"/>
          </a:xfrm>
          <a:prstGeom prst="rect">
            <a:avLst/>
          </a:prstGeom>
          <a:solidFill>
            <a:srgbClr val="281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87552"/>
            <a:ext cx="38404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124712"/>
            <a:ext cx="4572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15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DejaVu Sans"/>
              </a:rPr>
              <a:t>4.1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" y="1152144"/>
            <a:ext cx="1645920" cy="274320"/>
          </a:xfrm>
          <a:prstGeom prst="rect">
            <a:avLst/>
          </a:prstGeom>
          <a:solidFill>
            <a:srgbClr val="4C3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A623"/>
                </a:solidFill>
                <a:latin typeface="DejaVu Sans"/>
              </a:rPr>
              <a:t>AWS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  <a:latin typeface="DejaVu Sans"/>
              </a:rPr>
              <a:t>KIRO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579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Agentic AI for Builders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23744"/>
            <a:ext cx="356616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2724912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1518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Spec-Driven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191256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815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สร้าง Steering Documents อัตโนมัติ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3657600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4787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Agentic Task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123944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1421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Hooks &amp; Automation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590288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805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รองรับ MCP Servers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5056632"/>
            <a:ext cx="54864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4690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Deep AWS Service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" y="5577840"/>
            <a:ext cx="3657600" cy="594360"/>
          </a:xfrm>
          <a:prstGeom prst="rect">
            <a:avLst/>
          </a:prstGeom>
          <a:solidFill>
            <a:srgbClr val="422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5623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DejaVu Sans"/>
              </a:rPr>
              <a:t>ดีที่สุดสำหรับ AWS Ecosystem และ Enterprise-grade AI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987552"/>
            <a:ext cx="3840480" cy="5303520"/>
          </a:xfrm>
          <a:prstGeom prst="rect">
            <a:avLst/>
          </a:prstGeom>
          <a:solidFill>
            <a:srgbClr val="1A0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987552"/>
            <a:ext cx="384048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53128" y="1124712"/>
            <a:ext cx="45720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1115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DejaVu Sans"/>
              </a:rPr>
              <a:t>4.2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336" y="1152144"/>
            <a:ext cx="1645920" cy="274320"/>
          </a:xfrm>
          <a:prstGeom prst="rect">
            <a:avLst/>
          </a:prstGeom>
          <a:solidFill>
            <a:srgbClr val="39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  <a:latin typeface="DejaVu Sans"/>
              </a:rPr>
              <a:t>Agentic Cloud 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55F7"/>
                </a:solidFill>
                <a:latin typeface="DejaVu Sans"/>
              </a:rPr>
              <a:t>Antigravity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21579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Autonomous AI Developer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53128" y="2523744"/>
            <a:ext cx="356616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53128" y="2724912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261518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Cloud-based Agentic 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3191256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0815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ทำงาน End-to-End อัตโนมัติ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3128" y="3657600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354787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Multi-agent Collaboration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3128" y="4123944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01421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Real-time Code Execution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3128" y="4590288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4805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Built-in Testing &amp; 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5056632"/>
            <a:ext cx="54864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94690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Visual Workflow Builder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8" y="5577840"/>
            <a:ext cx="3657600" cy="594360"/>
          </a:xfrm>
          <a:prstGeom prst="rect">
            <a:avLst/>
          </a:prstGeom>
          <a:solidFill>
            <a:srgbClr val="2F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8" y="5623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55F7"/>
                </a:solidFill>
                <a:latin typeface="DejaVu Sans"/>
              </a:rPr>
              <a:t>เหมาะสำหรับทีมที่ต้องการ Fully Automated development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93608" y="987552"/>
            <a:ext cx="3840480" cy="5303520"/>
          </a:xfrm>
          <a:prstGeom prst="rect">
            <a:avLst/>
          </a:prstGeom>
          <a:solidFill>
            <a:srgbClr val="05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93608" y="987552"/>
            <a:ext cx="38404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30768" y="1124712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30768" y="1115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DejaVu Sans"/>
              </a:rPr>
              <a:t>4.3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1976" y="1152144"/>
            <a:ext cx="1645920" cy="274320"/>
          </a:xfrm>
          <a:prstGeom prst="rect">
            <a:avLst/>
          </a:prstGeom>
          <a:solidFill>
            <a:srgbClr val="103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51976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DejaVu Sans"/>
              </a:rPr>
              <a:t>Open Ecosystem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DejaVu Sans"/>
              </a:rPr>
              <a:t>VS Code +
GitHub Copilot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0768" y="21579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AI-Powered Coding Assistant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30768" y="2523744"/>
            <a:ext cx="35661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30768" y="2724912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261518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Inline Code Completion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0768" y="3191256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49640" y="308152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Chat Interface (Copilot Chat)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8" y="3657600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49640" y="3547872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Multi-file Edits (Agent mode)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30768" y="4123944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401421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Extensions Ecosystem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0768" y="4590288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9640" y="448056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GitHub Actions Integration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30768" y="5056632"/>
            <a:ext cx="54864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9640" y="494690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5DB"/>
                </a:solidFill>
                <a:latin typeface="DejaVu Sans"/>
              </a:rPr>
              <a:t>รองรับทุก Language &amp; Framework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85048" y="5577840"/>
            <a:ext cx="3657600" cy="594360"/>
          </a:xfrm>
          <a:prstGeom prst="rect">
            <a:avLst/>
          </a:prstGeom>
          <a:solidFill>
            <a:srgbClr val="06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76488" y="5623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DejaVu Sans"/>
              </a:rPr>
              <a:t>เหมาะกับทีมที่ใช้ VS Code อยู่แล้ว และต้องการ Gradual AI adoption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-914400"/>
            <a:ext cx="7315200" cy="5486400"/>
          </a:xfrm>
          <a:prstGeom prst="rect">
            <a:avLst/>
          </a:prstGeom>
          <a:solidFill>
            <a:srgbClr val="551a8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45720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572000" cy="3657600"/>
          </a:xfrm>
          <a:prstGeom prst="rect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DejaVu Sans"/>
              </a:rPr>
              <a:t>05   Future Skills ในยุค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DejaVu Sans"/>
              </a:rPr>
              <a:t>Future Skills ที่ต้องการในยุค AI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114300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64008" cy="1783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DejaVu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78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DejaVu Sans"/>
              </a:rPr>
              <a:t>AI &amp; Big Data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ทำงานร่วมกับ AI เข้าใจข้อมูล ใช้ Data สนับสนุน
การตัดสินใจและเพิ่มคุณค่าให้ธุรกิจ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0779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64008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DejaVu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DejaVu Sans"/>
              </a:rPr>
              <a:t>Technological Literacy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5643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ไม่ใช่แค่รู้จักเทคโนโลยี แต่ใช้ได้จริง
เช่น Automation, Digital Tools, Cloud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2803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28032"/>
            <a:ext cx="64008" cy="1783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94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DejaVu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19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DejaVu Sans"/>
              </a:rPr>
              <a:t>Creative 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7667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คิดนอกกรอบ สร้างไอเดียใหม่เพื่อแก้ปัญหา
และต่อยอดโอกาสให้ธุรกิจ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98755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987552"/>
            <a:ext cx="64008" cy="1783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0789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DejaVu Sa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051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078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DejaVu Sans"/>
              </a:rPr>
              <a:t>Resilience, Flexibility &amp; Agility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53619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ทักษะการปรับตัว รับการเปลี่ยนแปลง
และทำงานเชิงรุกท่ามกลางความไม่แน่นอน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90779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2907792"/>
            <a:ext cx="64008" cy="1783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99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DejaVu Sa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971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999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DejaVu Sans"/>
              </a:rPr>
              <a:t>Curiosity &amp; Lifelong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45643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เรียนรู้ตลอดเวลา อัปสกิลใหม่ได้เร็ว
พร้อมรับกับบทบาทที่เปลี่ยนไป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DejaVu Sans"/>
              </a:rPr>
              <a:t>Future Skills ที่ต้องการในยุค AI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114300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64008" cy="1783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DejaVu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78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DejaVu Sans"/>
              </a:rPr>
              <a:t>Leadership &amp; Social Influence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3619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ภาวะผู้นำยุคใหม่ที่เน้นการสร้างแรงบันดาลใจ
การโค้ชทีม และการขับเคลื่อนด้วยพลังแห่งการร่วมมือ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0779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64008" cy="1783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DejaVu Sans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DejaVu Sans"/>
              </a:rPr>
              <a:t>Analytical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5643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สรุปข้อมูลจำนวนมากให้เป็น Insight
ตีความปัญหาและตัดสินใจอย่างแม่นยำ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2803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28032"/>
            <a:ext cx="64008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94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DejaVu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19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DejaVu Sans"/>
              </a:rPr>
              <a:t>Systems 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7667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การคิดเชื่อมโยงแบบองค์รวม มองผลกระทบทั้งระบบ
ไม่ใช่การแก้ปัญหาแบบจุดเดียว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98755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987552"/>
            <a:ext cx="64008" cy="1783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0789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DejaVu Sans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051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078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DejaVu Sans"/>
              </a:rPr>
              <a:t>Motivation &amp; Self-awareness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53619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เข้าใจตัวเอง ตระหนักรู้พฤติกรรม
และสร้างแรงขับเคลื่อนงานจากภายใน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907792"/>
            <a:ext cx="5669280" cy="1783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2907792"/>
            <a:ext cx="64008" cy="1783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992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DejaVu Sans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971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DejaVu Sans"/>
              </a:rPr>
              <a:t>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9992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DejaVu Sans"/>
              </a:rPr>
              <a:t>Empathy &amp; Active Listening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456432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DejaVu Sans"/>
              </a:rPr>
              <a:t>ฟังอย่างตั้งใจ เข้าใจมุมมองผู้อื่น
เพื่อเพิ่มประสิทธิภาพการทำงานร่วมกันในทีม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-1371600"/>
            <a:ext cx="10972800" cy="7315200"/>
          </a:xfrm>
          <a:prstGeom prst="rect">
            <a:avLst/>
          </a:prstGeom>
          <a:solidFill>
            <a:srgbClr val="6b21a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7315200" cy="54864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457200"/>
            <a:ext cx="5486400" cy="4572000"/>
          </a:xfrm>
          <a:prstGeom prst="rect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7315200" cy="4572000"/>
          </a:xfrm>
          <a:prstGeom prst="rect">
            <a:avLst/>
          </a:prstGeom>
          <a:solidFill>
            <a:srgbClr val="05101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DejaVu Sans"/>
              </a:rPr>
              <a:t>สรุป: AI-DLC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  <a:latin typeface="DejaVu Sans"/>
              </a:rPr>
              <a:t>From Code Writers  →  Outcome Directors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✅  AI-DLC เปลี่ยนการพัฒนาซอฟต์แวร์จาก Step Increment → Paradigm Leap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13048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✅  Human กำหนดทิศทาง · AI ดำเนินการตามโครงสร้างและข้อกำหนด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88536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✅  3 Phases: Inception · Construction ·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64024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✅  เครื่องมือใหม่: KIRO · Antigravity · VS Code +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3951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DejaVu Sans"/>
              </a:rPr>
              <a:t>✅  ทักษะแห่งอนาคต: AI Literacy + Human Skills ต้องเดินคู่กัน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5760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DejaVu Sans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DejaVu Sans"/>
              </a:rP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